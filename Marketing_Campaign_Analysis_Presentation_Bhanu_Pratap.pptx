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88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7498079" cy="1463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5A1419"/>
                </a:solidFill>
                <a:latin typeface="Aptos"/>
              </a:rPr>
              <a:t>MARKETING CAMPAIGN
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5029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0">
                <a:solidFill>
                  <a:srgbClr val="505050"/>
                </a:solidFill>
                <a:latin typeface="Aptos"/>
              </a:rPr>
              <a:t>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5029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373737"/>
                </a:solidFill>
                <a:latin typeface="Aptos"/>
              </a:rPr>
              <a:t>Prepared by: Bhanu Pratap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897880"/>
            <a:ext cx="5303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0">
                <a:solidFill>
                  <a:srgbClr val="5A5A5A"/>
                </a:solidFill>
                <a:latin typeface="Aptos"/>
              </a:rPr>
              <a:t>Microsoft Excel  |  Data Cleaning  |  Pivot Tables  |  ROI  | 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A1419"/>
                </a:solidFill>
                <a:latin typeface="Aptos"/>
              </a:rP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What was the business problem and why did I analyze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373737"/>
                </a:solidFill>
                <a:latin typeface="Aptos"/>
              </a:defRPr>
            </a:pPr>
            <a:r>
              <a:rPr dirty="0"/>
              <a:t>• Marketing teams need to know which campaigns and channels generate meaningful business results.</a:t>
            </a:r>
          </a:p>
          <a:p>
            <a:pPr>
              <a:spcAft>
                <a:spcPts val="900"/>
              </a:spcAft>
              <a:defRPr sz="2000">
                <a:solidFill>
                  <a:srgbClr val="373737"/>
                </a:solidFill>
                <a:latin typeface="Aptos"/>
              </a:defRPr>
            </a:pPr>
            <a:r>
              <a:rPr dirty="0"/>
              <a:t>• The project evaluates campaign engagement, conversions, revenue, campaign cost and ROI.</a:t>
            </a:r>
          </a:p>
          <a:p>
            <a:pPr>
              <a:spcAft>
                <a:spcPts val="900"/>
              </a:spcAft>
              <a:defRPr sz="2000">
                <a:solidFill>
                  <a:srgbClr val="373737"/>
                </a:solidFill>
                <a:latin typeface="Aptos"/>
              </a:defRPr>
            </a:pPr>
            <a:r>
              <a:rPr dirty="0"/>
              <a:t>• The analysis was performed in Microsoft Excel using formulas, Pivot Tables, Pivot Charts, KPI analysis</a:t>
            </a:r>
            <a:r>
              <a:rPr lang="en-US" dirty="0"/>
              <a:t>.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900"/>
              </a:spcAft>
              <a:defRPr sz="2000">
                <a:solidFill>
                  <a:srgbClr val="373737"/>
                </a:solidFill>
                <a:latin typeface="Aptos"/>
              </a:defRPr>
            </a:pPr>
            <a:r>
              <a:rPr dirty="0"/>
              <a:t>• The final objective was to convert raw campaign data into actionable recommendations for marketing budget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A1419"/>
                </a:solidFill>
                <a:latin typeface="Aptos"/>
              </a:rPr>
              <a:t>2. 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Synthetic e-commerce marketing campaign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51460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435607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Campaign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71907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10,101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25880"/>
            <a:ext cx="251460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435607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171907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251460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435607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Marketing channels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71907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325880"/>
            <a:ext cx="2514600" cy="105156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62287" y="1435607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Campaign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1" y="171907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Channels covered: Google Ads, Meta Ads, Email, YouTube, LinkedIn and Instagram.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The data includes campaign dates, region, city, audience, device type, impressions, clicks, CTR, conversions, conversion rate, cost, revenue, ROI, customers acquired and status.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The workbook intentionally contains real-world quality issues to practice cleaning before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A1419"/>
                </a:solidFill>
                <a:latin typeface="Aptos"/>
              </a:rPr>
              <a:t>3. 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Making the dataset reliable before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Removed duplicate campaign records and checked unique Campaign IDs.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Handled missing values in campaign cost, revenue and conversions.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Standardized campaign names, marketing channels, cities and regions by removing spaces and fixing capitalization.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Converted mixed date formats into a consistent date format.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Reviewed negative campaign costs and other outliers before KPI calculations.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Verified numerical fields and prepared the data for Pivot Tables, Pivot Charts and dashboard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4. Campaign Metrics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The marketing funnel from reach to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103120" cy="100584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344168"/>
            <a:ext cx="18836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Impressions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627632"/>
            <a:ext cx="1956815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1,010,760,438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234440"/>
            <a:ext cx="2103120" cy="100584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34640" y="1344168"/>
            <a:ext cx="18836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Clicks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627632"/>
            <a:ext cx="1956815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75,689,405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6904" y="1234440"/>
            <a:ext cx="2103120" cy="100584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56632" y="1344168"/>
            <a:ext cx="18836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Overall 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0056" y="1627632"/>
            <a:ext cx="1956815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7.49%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8896" y="1234440"/>
            <a:ext cx="2103120" cy="100584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8624" y="1344168"/>
            <a:ext cx="18836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Conversions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1627632"/>
            <a:ext cx="1956815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12,805,223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0888" y="1234440"/>
            <a:ext cx="2103120" cy="100584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0615" y="1344168"/>
            <a:ext cx="1883663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Conversion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627632"/>
            <a:ext cx="1956815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16.92%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dirty="0"/>
              <a:t>• CTR measures how effectively campaigns attract clicks from impressions.</a:t>
            </a:r>
          </a:p>
          <a:p>
            <a:pPr>
              <a:spcAft>
                <a:spcPts val="9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dirty="0"/>
              <a:t>• Conversion Rate measures how effectively clicks become desired actions.</a:t>
            </a:r>
          </a:p>
          <a:p>
            <a:pPr>
              <a:spcAft>
                <a:spcPts val="9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dirty="0"/>
              <a:t>• These metrics help identify where the marketing funnel is strong or weak.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5. ROI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Measuring the financial return from marketing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8288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5A1419"/>
                </a:solidFill>
                <a:latin typeface="Aptos"/>
              </a:rPr>
              <a:t>ROI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373737"/>
                </a:solidFill>
                <a:latin typeface="Aptos"/>
              </a:rPr>
              <a:t>ROI (%) = ((Revenue Generated − Campaign Cost) ÷ Campaign Cost) ×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2514600" cy="109728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852928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Total Campaign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13639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₹39,555,040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743200"/>
            <a:ext cx="2514600" cy="109728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38728" y="2852928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Revenue Generated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313639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₹243,172,395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43200"/>
            <a:ext cx="2514600" cy="1097280"/>
          </a:xfrm>
          <a:prstGeom prst="roundRect">
            <a:avLst/>
          </a:prstGeom>
          <a:solidFill>
            <a:srgbClr val="F8F8F8"/>
          </a:solidFill>
          <a:ln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2852928"/>
            <a:ext cx="2295144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646464"/>
                </a:solidFill>
                <a:latin typeface="Aptos"/>
              </a:rPr>
              <a:t>Aggregate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3136392"/>
            <a:ext cx="2368296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100" b="1">
                <a:solidFill>
                  <a:srgbClr val="5A1419"/>
                </a:solidFill>
                <a:latin typeface="Aptos"/>
              </a:rPr>
              <a:t>514.77%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73737"/>
                </a:solidFill>
                <a:latin typeface="Aptos"/>
              </a:defRPr>
            </a:pPr>
            <a:r>
              <a:t>• A positive ROI means the revenue generated exceeded the campaign cost.</a:t>
            </a:r>
          </a:p>
          <a:p>
            <a:pPr>
              <a:spcAft>
                <a:spcPts val="900"/>
              </a:spcAft>
              <a:defRPr sz="1600">
                <a:solidFill>
                  <a:srgbClr val="373737"/>
                </a:solidFill>
                <a:latin typeface="Aptos"/>
              </a:defRPr>
            </a:pPr>
            <a:r>
              <a:t>• A negative ROI indicates that the campaign did not recover its marketing investment.</a:t>
            </a:r>
          </a:p>
          <a:p>
            <a:pPr>
              <a:spcAft>
                <a:spcPts val="900"/>
              </a:spcAft>
              <a:defRPr sz="1600">
                <a:solidFill>
                  <a:srgbClr val="373737"/>
                </a:solidFill>
                <a:latin typeface="Aptos"/>
              </a:defRPr>
            </a:pPr>
            <a:r>
              <a:t>• For channel comparison, I used aggregate ROI from total revenue and total cost to avoid mixing different campaign volumes.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6. Channel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Which marketing channels deserve attention?</a:t>
            </a:r>
          </a:p>
        </p:txBody>
      </p:sp>
      <p:pic>
        <p:nvPicPr>
          <p:cNvPr id="4" name="Picture 3" descr="revenue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623560" cy="2793184"/>
          </a:xfrm>
          <a:prstGeom prst="rect">
            <a:avLst/>
          </a:prstGeom>
        </p:spPr>
      </p:pic>
      <p:pic>
        <p:nvPicPr>
          <p:cNvPr id="5" name="Picture 4" descr="roi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86400" cy="2725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5394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4646"/>
                </a:solidFill>
                <a:latin typeface="Aptos"/>
              </a:rPr>
              <a:t>Highest revenue: Meta Ads (₹61,854,002)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5623560"/>
            <a:ext cx="5303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4646"/>
                </a:solidFill>
                <a:latin typeface="Aptos"/>
              </a:rPr>
              <a:t>Highest aggregate ROI: Youtube (531.20%)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7. Campaign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Comparing major campaign themes</a:t>
            </a:r>
          </a:p>
        </p:txBody>
      </p:sp>
      <p:pic>
        <p:nvPicPr>
          <p:cNvPr id="4" name="Picture 3" descr="revenue_by_campa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583680" cy="3270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Summer Sale generated the highest revenue in the cleaned workbook: ₹81,912,217.</a:t>
            </a:r>
          </a:p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New Launch had the highest aggregate ROI among campaign names: 535.59%.</a:t>
            </a:r>
          </a:p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Campaign performance should be evaluated using both scale (revenue/conversions) and efficiency (cost/ROI).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8. Regional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Location can change campaign performance</a:t>
            </a:r>
          </a:p>
        </p:txBody>
      </p:sp>
      <p:pic>
        <p:nvPicPr>
          <p:cNvPr id="4" name="Picture 3" descr="revenue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583680" cy="3270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417320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west generated the highest revenue: ₹82,671,208.</a:t>
            </a:r>
          </a:p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Regional comparisons help identify markets where budget allocation or targeting can be improved.</a:t>
            </a:r>
          </a:p>
          <a:p>
            <a:pPr>
              <a:spcAft>
                <a:spcPts val="900"/>
              </a:spcAft>
              <a:defRPr sz="1700">
                <a:solidFill>
                  <a:srgbClr val="373737"/>
                </a:solidFill>
                <a:latin typeface="Aptos"/>
              </a:defRPr>
            </a:pPr>
            <a:r>
              <a:t>• Location-level analysis can be combined with channel and audience filters for more precise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9. Dashboard &amp; Excel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How the analysis was converted into a usable BI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Pivot Tables: summarized revenue, conversions, campaign cost, ROI and customers acquired.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Pivot Charts: visualized channel, campaign and regional performance.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KPI cards: highlighted the most important campaign metrics.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Excel formulas: calculated CTR, Conversion Rate and ROI where required.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The dashboard was designed to help a decision-maker compare performance quickly rather than inspect raw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A1419"/>
                </a:solidFill>
                <a:latin typeface="Aptos"/>
              </a:rPr>
              <a:t>10.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What the analysis tells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Overall marketing spend was ₹39,555,040 against revenue of ₹243,172,395.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The aggregate ROI across the cleaned workbook is 514.77%.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Meta Ads generated the highest channel revenue, while </a:t>
            </a:r>
            <a:r>
              <a:rPr dirty="0" err="1"/>
              <a:t>Youtube</a:t>
            </a:r>
            <a:r>
              <a:rPr dirty="0"/>
              <a:t> had the highest aggregate channel ROI.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t>• Summer Sale was the strongest campaign by total revenue.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Campaign results vary by region, audience and channel, so a single budget strategy should not be applied everywhere.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CTR, conversion rate and ROI should be reviewed together; a high-click campaign is not automatically the most profitable.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5A1419"/>
                </a:solidFill>
                <a:latin typeface="Aptos"/>
              </a:rPr>
              <a:t>11.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Turning the analysis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Prioritize channels that combine strong revenue with efficient aggregate ROI, rather than optimizing for clicks alone.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Scale high-performing campaign themes while testing their performance with controlled budget increases.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Reduce or review spend on campaigns with weak ROI, low conversion efficiency or unusually high acquisition cost.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Use region and audience-level segmentation to personalize campaign targeting.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Track ROI, CTR, Conversion Rate and Customers Acquired together in a recurring dashboard.</a:t>
            </a:r>
          </a:p>
          <a:p>
            <a:pPr>
              <a:spcAft>
                <a:spcPts val="900"/>
              </a:spcAft>
              <a:defRPr sz="1800">
                <a:solidFill>
                  <a:srgbClr val="373737"/>
                </a:solidFill>
                <a:latin typeface="Aptos"/>
              </a:defRPr>
            </a:pPr>
            <a:r>
              <a:rPr dirty="0"/>
              <a:t>• Recalculate ROI consistently at the campaign and channel level so budget decisions are comparable.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624436" cy="5232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 dirty="0">
                <a:solidFill>
                  <a:srgbClr val="5A1419"/>
                </a:solidFill>
                <a:latin typeface="Aptos"/>
              </a:rPr>
              <a:t>1</a:t>
            </a:r>
            <a:r>
              <a:rPr lang="en-US" sz="2800" b="1" dirty="0">
                <a:solidFill>
                  <a:srgbClr val="5A1419"/>
                </a:solidFill>
                <a:latin typeface="Aptos"/>
              </a:rPr>
              <a:t>2</a:t>
            </a:r>
            <a:r>
              <a:rPr sz="2800" b="1" dirty="0">
                <a:solidFill>
                  <a:srgbClr val="5A1419"/>
                </a:solidFill>
                <a:latin typeface="Aptos"/>
              </a:rPr>
              <a:t>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881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Aptos"/>
              </a:rPr>
              <a:t>From raw marketing data to business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dirty="0"/>
              <a:t>• The project demonstrates an end-to-end Excel analytics workflow: cleaning → calculation → Pivot analysis → visualization → insight.</a:t>
            </a:r>
          </a:p>
          <a:p>
            <a:pPr>
              <a:spcAft>
                <a:spcPts val="9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dirty="0"/>
              <a:t>• The analysis makes campaign performance measurable across channels, campaign types and regions.</a:t>
            </a:r>
          </a:p>
          <a:p>
            <a:pPr>
              <a:spcAft>
                <a:spcPts val="9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dirty="0"/>
              <a:t>• The final outcome is not only a dashboard, but a framework for deciding where marketing budget should be increased, reviewed or optimized.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0642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  <a:latin typeface="Aptos"/>
              </a:rPr>
              <a:t>Marketing Campaign Analysis  |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1016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bhanu sharma</cp:lastModifiedBy>
  <cp:revision>6</cp:revision>
  <dcterms:created xsi:type="dcterms:W3CDTF">2013-01-27T09:14:16Z</dcterms:created>
  <dcterms:modified xsi:type="dcterms:W3CDTF">2026-08-27T11:02:36Z</dcterms:modified>
  <cp:category/>
</cp:coreProperties>
</file>